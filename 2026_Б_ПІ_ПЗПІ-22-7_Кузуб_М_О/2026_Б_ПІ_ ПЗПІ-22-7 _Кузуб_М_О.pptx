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BM Plex Mono Bold" charset="1" panose="020B0809050203000203"/>
      <p:regular r:id="rId22"/>
    </p:embeddedFont>
    <p:embeddedFont>
      <p:font typeface="Times New Roman" charset="1" panose="02020603050405020304"/>
      <p:regular r:id="rId23"/>
    </p:embeddedFont>
    <p:embeddedFont>
      <p:font typeface="IBM Plex Mono" charset="1" panose="020B0509050203000203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Times New Roman Italics" charset="1" panose="020205030504050903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753492"/>
            <a:ext cx="16230600" cy="7301287"/>
            <a:chOff x="0" y="0"/>
            <a:chExt cx="4274726" cy="19229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922973"/>
            </a:xfrm>
            <a:custGeom>
              <a:avLst/>
              <a:gdLst/>
              <a:ahLst/>
              <a:cxnLst/>
              <a:rect r="r" b="b" t="t" l="l"/>
              <a:pathLst>
                <a:path h="192297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98646"/>
                  </a:lnTo>
                  <a:cubicBezTo>
                    <a:pt x="4274726" y="1912081"/>
                    <a:pt x="4263834" y="1922973"/>
                    <a:pt x="4250399" y="1922973"/>
                  </a:cubicBezTo>
                  <a:lnTo>
                    <a:pt x="24327" y="1922973"/>
                  </a:lnTo>
                  <a:cubicBezTo>
                    <a:pt x="10891" y="1922973"/>
                    <a:pt x="0" y="1912081"/>
                    <a:pt x="0" y="18986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961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6466" y="7148825"/>
            <a:ext cx="4801755" cy="2584703"/>
            <a:chOff x="0" y="0"/>
            <a:chExt cx="2056130" cy="11067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6130" cy="1106780"/>
            </a:xfrm>
            <a:custGeom>
              <a:avLst/>
              <a:gdLst/>
              <a:ahLst/>
              <a:cxnLst/>
              <a:rect r="r" b="b" t="t" l="l"/>
              <a:pathLst>
                <a:path h="1106780" w="2056130">
                  <a:moveTo>
                    <a:pt x="53206" y="0"/>
                  </a:moveTo>
                  <a:lnTo>
                    <a:pt x="2002923" y="0"/>
                  </a:lnTo>
                  <a:cubicBezTo>
                    <a:pt x="2032308" y="0"/>
                    <a:pt x="2056130" y="23821"/>
                    <a:pt x="2056130" y="53206"/>
                  </a:cubicBezTo>
                  <a:lnTo>
                    <a:pt x="2056130" y="1053573"/>
                  </a:lnTo>
                  <a:cubicBezTo>
                    <a:pt x="2056130" y="1067684"/>
                    <a:pt x="2050524" y="1081218"/>
                    <a:pt x="2040546" y="1091196"/>
                  </a:cubicBezTo>
                  <a:cubicBezTo>
                    <a:pt x="2030568" y="1101174"/>
                    <a:pt x="2017034" y="1106780"/>
                    <a:pt x="2002923" y="1106780"/>
                  </a:cubicBezTo>
                  <a:lnTo>
                    <a:pt x="53206" y="1106780"/>
                  </a:lnTo>
                  <a:cubicBezTo>
                    <a:pt x="23821" y="1106780"/>
                    <a:pt x="0" y="1082958"/>
                    <a:pt x="0" y="1053573"/>
                  </a:cubicBezTo>
                  <a:lnTo>
                    <a:pt x="0" y="53206"/>
                  </a:lnTo>
                  <a:cubicBezTo>
                    <a:pt x="0" y="23821"/>
                    <a:pt x="23821" y="0"/>
                    <a:pt x="532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56130" cy="114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6466" y="4419594"/>
            <a:ext cx="15435068" cy="159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40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Програмна система розпізнавання кольору </a:t>
            </a:r>
          </a:p>
          <a:p>
            <a:pPr algn="ctr">
              <a:lnSpc>
                <a:spcPts val="4160"/>
              </a:lnSpc>
            </a:pPr>
            <a:r>
              <a:rPr lang="en-US" sz="40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та ступеня вологості ґрунту </a:t>
            </a:r>
          </a:p>
          <a:p>
            <a:pPr algn="ctr">
              <a:lnSpc>
                <a:spcPts val="4160"/>
              </a:lnSpc>
            </a:pPr>
            <a:r>
              <a:rPr lang="en-US" b="true" sz="4000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з використанням нейронних мереж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04876" y="1493413"/>
            <a:ext cx="15278249" cy="173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Харківський національний університет радіоелектроніки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Кваліфікаційна робота бакалавра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91590" y="7437155"/>
            <a:ext cx="5954024" cy="1747611"/>
            <a:chOff x="0" y="0"/>
            <a:chExt cx="7938698" cy="233014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85009" cy="285009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2459" y="0"/>
              <a:ext cx="285009" cy="285009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43394" y="0"/>
              <a:ext cx="285009" cy="285009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805709"/>
              <a:ext cx="7938698" cy="1524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1"/>
                </a:lnSpc>
              </a:pPr>
              <a:r>
                <a:rPr lang="en-US" sz="2828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Виконав: </a:t>
              </a:r>
            </a:p>
            <a:p>
              <a:pPr algn="l">
                <a:lnSpc>
                  <a:spcPts val="2941"/>
                </a:lnSpc>
              </a:pPr>
              <a:r>
                <a:rPr lang="en-US" sz="2828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ст. групи ПЗПІ-22-7</a:t>
              </a:r>
            </a:p>
            <a:p>
              <a:pPr algn="l">
                <a:lnSpc>
                  <a:spcPts val="2941"/>
                </a:lnSpc>
              </a:pPr>
              <a:r>
                <a:rPr lang="en-US" sz="2828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Кузуб Максим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98852" y="7148825"/>
            <a:ext cx="6484272" cy="1816597"/>
            <a:chOff x="0" y="0"/>
            <a:chExt cx="2776590" cy="7778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76590" cy="777874"/>
            </a:xfrm>
            <a:custGeom>
              <a:avLst/>
              <a:gdLst/>
              <a:ahLst/>
              <a:cxnLst/>
              <a:rect r="r" b="b" t="t" l="l"/>
              <a:pathLst>
                <a:path h="777874" w="2776590">
                  <a:moveTo>
                    <a:pt x="39400" y="0"/>
                  </a:moveTo>
                  <a:lnTo>
                    <a:pt x="2737189" y="0"/>
                  </a:lnTo>
                  <a:cubicBezTo>
                    <a:pt x="2758950" y="0"/>
                    <a:pt x="2776590" y="17640"/>
                    <a:pt x="2776590" y="39400"/>
                  </a:cubicBezTo>
                  <a:lnTo>
                    <a:pt x="2776590" y="738473"/>
                  </a:lnTo>
                  <a:cubicBezTo>
                    <a:pt x="2776590" y="748923"/>
                    <a:pt x="2772439" y="758945"/>
                    <a:pt x="2765050" y="766334"/>
                  </a:cubicBezTo>
                  <a:cubicBezTo>
                    <a:pt x="2757661" y="773723"/>
                    <a:pt x="2747639" y="777874"/>
                    <a:pt x="2737189" y="777874"/>
                  </a:cubicBezTo>
                  <a:lnTo>
                    <a:pt x="39400" y="777874"/>
                  </a:lnTo>
                  <a:cubicBezTo>
                    <a:pt x="17640" y="777874"/>
                    <a:pt x="0" y="760234"/>
                    <a:pt x="0" y="738473"/>
                  </a:cubicBezTo>
                  <a:lnTo>
                    <a:pt x="0" y="39400"/>
                  </a:lnTo>
                  <a:cubicBezTo>
                    <a:pt x="0" y="28951"/>
                    <a:pt x="4151" y="18929"/>
                    <a:pt x="11540" y="11540"/>
                  </a:cubicBezTo>
                  <a:cubicBezTo>
                    <a:pt x="18929" y="4151"/>
                    <a:pt x="28951" y="0"/>
                    <a:pt x="39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76590" cy="81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563976" y="7475255"/>
            <a:ext cx="5954024" cy="113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Керівник: </a:t>
            </a:r>
          </a:p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ас. каф. ПІ </a:t>
            </a:r>
          </a:p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Ірина АГЕКЯН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746698" y="7437155"/>
            <a:ext cx="771302" cy="213757"/>
            <a:chOff x="0" y="0"/>
            <a:chExt cx="1028403" cy="285009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85009" cy="285009"/>
              <a:chOff x="0" y="0"/>
              <a:chExt cx="6350000" cy="635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372459" y="0"/>
              <a:ext cx="285009" cy="285009"/>
              <a:chOff x="0" y="0"/>
              <a:chExt cx="6350000" cy="635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743394" y="0"/>
              <a:ext cx="285009" cy="285009"/>
              <a:chOff x="0" y="0"/>
              <a:chExt cx="6350000" cy="6350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410613"/>
            <a:ext cx="16230600" cy="3857246"/>
            <a:chOff x="0" y="0"/>
            <a:chExt cx="7041619" cy="16734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1619" cy="1673460"/>
            </a:xfrm>
            <a:custGeom>
              <a:avLst/>
              <a:gdLst/>
              <a:ahLst/>
              <a:cxnLst/>
              <a:rect r="r" b="b" t="t" l="l"/>
              <a:pathLst>
                <a:path h="1673460" w="7041619">
                  <a:moveTo>
                    <a:pt x="14787" y="0"/>
                  </a:moveTo>
                  <a:lnTo>
                    <a:pt x="7026832" y="0"/>
                  </a:lnTo>
                  <a:cubicBezTo>
                    <a:pt x="7030754" y="0"/>
                    <a:pt x="7034515" y="1558"/>
                    <a:pt x="7037288" y="4331"/>
                  </a:cubicBezTo>
                  <a:cubicBezTo>
                    <a:pt x="7040061" y="7104"/>
                    <a:pt x="7041619" y="10865"/>
                    <a:pt x="7041619" y="14787"/>
                  </a:cubicBezTo>
                  <a:lnTo>
                    <a:pt x="7041619" y="1658673"/>
                  </a:lnTo>
                  <a:cubicBezTo>
                    <a:pt x="7041619" y="1666840"/>
                    <a:pt x="7034998" y="1673460"/>
                    <a:pt x="7026832" y="1673460"/>
                  </a:cubicBezTo>
                  <a:lnTo>
                    <a:pt x="14787" y="1673460"/>
                  </a:lnTo>
                  <a:cubicBezTo>
                    <a:pt x="6620" y="1673460"/>
                    <a:pt x="0" y="1666840"/>
                    <a:pt x="0" y="1658673"/>
                  </a:cubicBezTo>
                  <a:lnTo>
                    <a:pt x="0" y="14787"/>
                  </a:lnTo>
                  <a:cubicBezTo>
                    <a:pt x="0" y="6620"/>
                    <a:pt x="6620" y="0"/>
                    <a:pt x="14787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041619" cy="171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5205" y="4744342"/>
            <a:ext cx="15357589" cy="151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3217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Мета роботи: створення програмної системи для розпізнавання характеристик та оцінки ступеня вологості ґрунту на основі методів комп’ютерного зору.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035901"/>
            <a:ext cx="17013544" cy="92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sz="68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Мета роботи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5205" y="3761841"/>
            <a:ext cx="761267" cy="210976"/>
            <a:chOff x="0" y="0"/>
            <a:chExt cx="1015023" cy="28130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62274" y="1909436"/>
            <a:ext cx="10363453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Актуальність теми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61547" y="3350176"/>
            <a:ext cx="12764907" cy="4863358"/>
            <a:chOff x="0" y="0"/>
            <a:chExt cx="6491591" cy="2473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1591" cy="2473260"/>
            </a:xfrm>
            <a:custGeom>
              <a:avLst/>
              <a:gdLst/>
              <a:ahLst/>
              <a:cxnLst/>
              <a:rect r="r" b="b" t="t" l="l"/>
              <a:pathLst>
                <a:path h="2473260" w="6491591">
                  <a:moveTo>
                    <a:pt x="10311" y="0"/>
                  </a:moveTo>
                  <a:lnTo>
                    <a:pt x="6481280" y="0"/>
                  </a:lnTo>
                  <a:cubicBezTo>
                    <a:pt x="6484015" y="0"/>
                    <a:pt x="6486637" y="1086"/>
                    <a:pt x="6488571" y="3020"/>
                  </a:cubicBezTo>
                  <a:cubicBezTo>
                    <a:pt x="6490505" y="4953"/>
                    <a:pt x="6491591" y="7576"/>
                    <a:pt x="6491591" y="10311"/>
                  </a:cubicBezTo>
                  <a:lnTo>
                    <a:pt x="6491591" y="2462950"/>
                  </a:lnTo>
                  <a:cubicBezTo>
                    <a:pt x="6491591" y="2465684"/>
                    <a:pt x="6490505" y="2468307"/>
                    <a:pt x="6488571" y="2470240"/>
                  </a:cubicBezTo>
                  <a:cubicBezTo>
                    <a:pt x="6486637" y="2472174"/>
                    <a:pt x="6484015" y="2473260"/>
                    <a:pt x="6481280" y="2473260"/>
                  </a:cubicBezTo>
                  <a:lnTo>
                    <a:pt x="10311" y="2473260"/>
                  </a:lnTo>
                  <a:cubicBezTo>
                    <a:pt x="7576" y="2473260"/>
                    <a:pt x="4953" y="2472174"/>
                    <a:pt x="3020" y="2470240"/>
                  </a:cubicBezTo>
                  <a:cubicBezTo>
                    <a:pt x="1086" y="2468307"/>
                    <a:pt x="0" y="2465684"/>
                    <a:pt x="0" y="2462950"/>
                  </a:cubicBezTo>
                  <a:lnTo>
                    <a:pt x="0" y="10311"/>
                  </a:lnTo>
                  <a:cubicBezTo>
                    <a:pt x="0" y="7576"/>
                    <a:pt x="1086" y="4953"/>
                    <a:pt x="3020" y="3020"/>
                  </a:cubicBezTo>
                  <a:cubicBezTo>
                    <a:pt x="4953" y="1086"/>
                    <a:pt x="7576" y="0"/>
                    <a:pt x="103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91591" cy="2511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45733" y="3709965"/>
            <a:ext cx="816541" cy="226294"/>
            <a:chOff x="0" y="0"/>
            <a:chExt cx="1088722" cy="30172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01726" cy="301726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94305" y="0"/>
              <a:ext cx="301726" cy="301726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786996" y="0"/>
              <a:ext cx="301726" cy="301726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1" id="21"/>
          <p:cNvSpPr txBox="true"/>
          <p:nvPr/>
        </p:nvSpPr>
        <p:spPr>
          <a:xfrm rot="0">
            <a:off x="3145733" y="4385174"/>
            <a:ext cx="11996535" cy="251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9"/>
              </a:lnSpc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Основні проблеми: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мініміз</a:t>
            </a: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ація людського фактора;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швидкість та точність аналізу;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а</a:t>
            </a: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втоматизація та ШІ.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339678"/>
            <a:ext cx="16230600" cy="8625391"/>
            <a:chOff x="0" y="0"/>
            <a:chExt cx="8254069" cy="43864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4069" cy="4386441"/>
            </a:xfrm>
            <a:custGeom>
              <a:avLst/>
              <a:gdLst/>
              <a:ahLst/>
              <a:cxnLst/>
              <a:rect r="r" b="b" t="t" l="l"/>
              <a:pathLst>
                <a:path h="4386441" w="8254069">
                  <a:moveTo>
                    <a:pt x="8109" y="0"/>
                  </a:moveTo>
                  <a:lnTo>
                    <a:pt x="8245960" y="0"/>
                  </a:lnTo>
                  <a:cubicBezTo>
                    <a:pt x="8248110" y="0"/>
                    <a:pt x="8250173" y="854"/>
                    <a:pt x="8251694" y="2375"/>
                  </a:cubicBezTo>
                  <a:cubicBezTo>
                    <a:pt x="8253215" y="3896"/>
                    <a:pt x="8254069" y="5958"/>
                    <a:pt x="8254069" y="8109"/>
                  </a:cubicBezTo>
                  <a:lnTo>
                    <a:pt x="8254069" y="4378332"/>
                  </a:lnTo>
                  <a:cubicBezTo>
                    <a:pt x="8254069" y="4380483"/>
                    <a:pt x="8253215" y="4382545"/>
                    <a:pt x="8251694" y="4384066"/>
                  </a:cubicBezTo>
                  <a:cubicBezTo>
                    <a:pt x="8250173" y="4385587"/>
                    <a:pt x="8248110" y="4386441"/>
                    <a:pt x="8245960" y="4386441"/>
                  </a:cubicBezTo>
                  <a:lnTo>
                    <a:pt x="8109" y="4386441"/>
                  </a:lnTo>
                  <a:cubicBezTo>
                    <a:pt x="5958" y="4386441"/>
                    <a:pt x="3896" y="4385587"/>
                    <a:pt x="2375" y="4384066"/>
                  </a:cubicBezTo>
                  <a:cubicBezTo>
                    <a:pt x="854" y="4382545"/>
                    <a:pt x="0" y="4380483"/>
                    <a:pt x="0" y="437833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54069" cy="4424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531665" y="2679042"/>
          <a:ext cx="15224670" cy="6830371"/>
        </p:xfrm>
        <a:graphic>
          <a:graphicData uri="http://schemas.openxmlformats.org/drawingml/2006/table">
            <a:tbl>
              <a:tblPr/>
              <a:tblGrid>
                <a:gridCol w="2763346"/>
                <a:gridCol w="2976426"/>
                <a:gridCol w="3139830"/>
                <a:gridCol w="3248845"/>
                <a:gridCol w="3096224"/>
              </a:tblGrid>
              <a:tr h="1139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Критерій порівняння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SoilOptix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Munsell Apps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Slakes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SoilVision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2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Вартість системи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Висока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Безкоштовно / Низька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Безкоштовно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Безкоштовно / Низька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Метод збору даних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Гамма-сканування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Фотофіксація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Серійна фотофіксація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Фотофіксація + Алгоритми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Аналіз вологості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Так (потребує калібрування)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Ні (лише код кольору)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Ні (лише стабільність)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Так (прогнозний комплекс)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Зберігання історії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Так (хмарне сховище)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Ні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Ні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Так (локальний SQL Server)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Мобільність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Потребує транспорту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Висока (мобільна)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Висока (мобільна)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Висока (десктоп / ноутбук)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712793" y="310036"/>
            <a:ext cx="14862413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Аналіз аналогів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665" y="1568333"/>
            <a:ext cx="15488092" cy="159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Таблиця — Порівняльний аналіз SoilVision та існуючих систем (виконано самостійно)</a:t>
            </a:r>
          </a:p>
          <a:p>
            <a:pPr algn="l">
              <a:lnSpc>
                <a:spcPts val="3223"/>
              </a:lnSpc>
            </a:pPr>
          </a:p>
          <a:p>
            <a:pPr algn="l">
              <a:lnSpc>
                <a:spcPts val="322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494214"/>
            <a:ext cx="1486241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Постановка задачі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756730"/>
            <a:ext cx="16230600" cy="5252041"/>
            <a:chOff x="0" y="0"/>
            <a:chExt cx="8254069" cy="2670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4069" cy="2670924"/>
            </a:xfrm>
            <a:custGeom>
              <a:avLst/>
              <a:gdLst/>
              <a:ahLst/>
              <a:cxnLst/>
              <a:rect r="r" b="b" t="t" l="l"/>
              <a:pathLst>
                <a:path h="2670924" w="8254069">
                  <a:moveTo>
                    <a:pt x="8109" y="0"/>
                  </a:moveTo>
                  <a:lnTo>
                    <a:pt x="8245960" y="0"/>
                  </a:lnTo>
                  <a:cubicBezTo>
                    <a:pt x="8248110" y="0"/>
                    <a:pt x="8250173" y="854"/>
                    <a:pt x="8251694" y="2375"/>
                  </a:cubicBezTo>
                  <a:cubicBezTo>
                    <a:pt x="8253215" y="3896"/>
                    <a:pt x="8254069" y="5958"/>
                    <a:pt x="8254069" y="8109"/>
                  </a:cubicBezTo>
                  <a:lnTo>
                    <a:pt x="8254069" y="2662815"/>
                  </a:lnTo>
                  <a:cubicBezTo>
                    <a:pt x="8254069" y="2664966"/>
                    <a:pt x="8253215" y="2667029"/>
                    <a:pt x="8251694" y="2668549"/>
                  </a:cubicBezTo>
                  <a:cubicBezTo>
                    <a:pt x="8250173" y="2670070"/>
                    <a:pt x="8248110" y="2670924"/>
                    <a:pt x="8245960" y="2670924"/>
                  </a:cubicBezTo>
                  <a:lnTo>
                    <a:pt x="8109" y="2670924"/>
                  </a:lnTo>
                  <a:cubicBezTo>
                    <a:pt x="5958" y="2670924"/>
                    <a:pt x="3896" y="2670070"/>
                    <a:pt x="2375" y="2668549"/>
                  </a:cubicBezTo>
                  <a:cubicBezTo>
                    <a:pt x="854" y="2667029"/>
                    <a:pt x="0" y="2664966"/>
                    <a:pt x="0" y="2662815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54069" cy="2709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99954" y="3819169"/>
            <a:ext cx="15488092" cy="363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Дослідити об'єкта розробки;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Реалізувати модуль обробки зображень;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Побудувати та навчити модель машинного навчання;</a:t>
            </a:r>
          </a:p>
          <a:p>
            <a:pPr algn="just" marL="863591" indent="-431796" lvl="1">
              <a:lnSpc>
                <a:spcPts val="49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Реалізувати архітектуру системи.</a:t>
            </a:r>
          </a:p>
          <a:p>
            <a:pPr algn="just">
              <a:lnSpc>
                <a:spcPts val="3843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399954" y="3219590"/>
            <a:ext cx="816541" cy="226294"/>
            <a:chOff x="0" y="0"/>
            <a:chExt cx="1088722" cy="30172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01726" cy="301726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94305" y="0"/>
              <a:ext cx="301726" cy="301726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786996" y="0"/>
              <a:ext cx="301726" cy="301726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357601"/>
            <a:ext cx="9012945" cy="5528749"/>
            <a:chOff x="0" y="0"/>
            <a:chExt cx="3889150" cy="23856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9151" cy="2385695"/>
            </a:xfrm>
            <a:custGeom>
              <a:avLst/>
              <a:gdLst/>
              <a:ahLst/>
              <a:cxnLst/>
              <a:rect r="r" b="b" t="t" l="l"/>
              <a:pathLst>
                <a:path h="2385695" w="3889151">
                  <a:moveTo>
                    <a:pt x="26628" y="0"/>
                  </a:moveTo>
                  <a:lnTo>
                    <a:pt x="3862522" y="0"/>
                  </a:lnTo>
                  <a:cubicBezTo>
                    <a:pt x="3877229" y="0"/>
                    <a:pt x="3889151" y="11922"/>
                    <a:pt x="3889151" y="26628"/>
                  </a:cubicBezTo>
                  <a:lnTo>
                    <a:pt x="3889151" y="2359067"/>
                  </a:lnTo>
                  <a:cubicBezTo>
                    <a:pt x="3889151" y="2373773"/>
                    <a:pt x="3877229" y="2385695"/>
                    <a:pt x="3862522" y="2385695"/>
                  </a:cubicBezTo>
                  <a:lnTo>
                    <a:pt x="26628" y="2385695"/>
                  </a:lnTo>
                  <a:cubicBezTo>
                    <a:pt x="11922" y="2385695"/>
                    <a:pt x="0" y="2373773"/>
                    <a:pt x="0" y="2359067"/>
                  </a:cubicBezTo>
                  <a:lnTo>
                    <a:pt x="0" y="26628"/>
                  </a:lnTo>
                  <a:cubicBezTo>
                    <a:pt x="0" y="11922"/>
                    <a:pt x="11922" y="0"/>
                    <a:pt x="26628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89150" cy="2423795"/>
            </a:xfrm>
            <a:prstGeom prst="rect">
              <a:avLst/>
            </a:prstGeom>
          </p:spPr>
          <p:txBody>
            <a:bodyPr anchor="ctr" rtlCol="false" tIns="56447" lIns="56447" bIns="56447" rIns="5644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9114" y="4325158"/>
            <a:ext cx="7917489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Клієнтська частина</a:t>
            </a:r>
          </a:p>
          <a:p>
            <a:pPr algn="just" marL="539749" indent="-269875" lvl="1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Пла</a:t>
            </a:r>
            <a:r>
              <a:rPr lang="en-US" sz="24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тформа: Windows Forms (.NET 10) на базі C#.</a:t>
            </a:r>
          </a:p>
          <a:p>
            <a:pPr algn="just" marL="539749" indent="-269875" lvl="1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Функції: Відповідає за відображення графічного інтерфейсу, навігацію між формами авторизації, аналізу та історії, попіксельну обробку зображень та надсилання прямих SQL-запитів до бази даних через ADO.NET Client.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9114" y="3690427"/>
            <a:ext cx="691387" cy="191609"/>
            <a:chOff x="0" y="0"/>
            <a:chExt cx="921849" cy="25547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55479" cy="255479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33868" y="0"/>
              <a:ext cx="255479" cy="255479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666370" y="0"/>
              <a:ext cx="255479" cy="255479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1" id="21"/>
          <p:cNvSpPr txBox="true"/>
          <p:nvPr/>
        </p:nvSpPr>
        <p:spPr>
          <a:xfrm rot="0">
            <a:off x="1121303" y="739611"/>
            <a:ext cx="16230600" cy="202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Архітектура програмної системи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01820" y="2759853"/>
            <a:ext cx="8239172" cy="5245810"/>
            <a:chOff x="0" y="0"/>
            <a:chExt cx="3574552" cy="22758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74552" cy="2275886"/>
            </a:xfrm>
            <a:custGeom>
              <a:avLst/>
              <a:gdLst/>
              <a:ahLst/>
              <a:cxnLst/>
              <a:rect r="r" b="b" t="t" l="l"/>
              <a:pathLst>
                <a:path h="2275886" w="3574552">
                  <a:moveTo>
                    <a:pt x="29129" y="0"/>
                  </a:moveTo>
                  <a:lnTo>
                    <a:pt x="3545422" y="0"/>
                  </a:lnTo>
                  <a:cubicBezTo>
                    <a:pt x="3553148" y="0"/>
                    <a:pt x="3560557" y="3069"/>
                    <a:pt x="3566020" y="8532"/>
                  </a:cubicBezTo>
                  <a:cubicBezTo>
                    <a:pt x="3571483" y="13994"/>
                    <a:pt x="3574552" y="21404"/>
                    <a:pt x="3574552" y="29129"/>
                  </a:cubicBezTo>
                  <a:lnTo>
                    <a:pt x="3574552" y="2246757"/>
                  </a:lnTo>
                  <a:cubicBezTo>
                    <a:pt x="3574552" y="2254483"/>
                    <a:pt x="3571483" y="2261892"/>
                    <a:pt x="3566020" y="2267355"/>
                  </a:cubicBezTo>
                  <a:cubicBezTo>
                    <a:pt x="3560557" y="2272817"/>
                    <a:pt x="3553148" y="2275886"/>
                    <a:pt x="3545422" y="2275886"/>
                  </a:cubicBezTo>
                  <a:lnTo>
                    <a:pt x="29129" y="2275886"/>
                  </a:lnTo>
                  <a:cubicBezTo>
                    <a:pt x="21404" y="2275886"/>
                    <a:pt x="13994" y="2272817"/>
                    <a:pt x="8532" y="2267355"/>
                  </a:cubicBezTo>
                  <a:cubicBezTo>
                    <a:pt x="3069" y="2261892"/>
                    <a:pt x="0" y="2254483"/>
                    <a:pt x="0" y="2246757"/>
                  </a:cubicBezTo>
                  <a:lnTo>
                    <a:pt x="0" y="29129"/>
                  </a:lnTo>
                  <a:cubicBezTo>
                    <a:pt x="0" y="21404"/>
                    <a:pt x="3069" y="13994"/>
                    <a:pt x="8532" y="8532"/>
                  </a:cubicBezTo>
                  <a:cubicBezTo>
                    <a:pt x="13994" y="3069"/>
                    <a:pt x="21404" y="0"/>
                    <a:pt x="291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574552" cy="2313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3393" y="3091423"/>
            <a:ext cx="7668203" cy="4482548"/>
            <a:chOff x="0" y="0"/>
            <a:chExt cx="10224271" cy="597673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777139"/>
              <a:ext cx="10224271" cy="519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9"/>
                </a:lnSpc>
              </a:pPr>
              <a:r>
                <a:rPr lang="en-US" sz="2499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Рівень даних</a:t>
              </a:r>
            </a:p>
            <a:p>
              <a:pPr algn="just" marL="539749" indent="-269875" lvl="1">
                <a:lnSpc>
                  <a:spcPts val="3099"/>
                </a:lnSpc>
                <a:buFont typeface="Arial"/>
                <a:buChar char="•"/>
              </a:pPr>
              <a:r>
                <a:rPr lang="en-US" sz="2499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Платформа: Microsoft SQL Server.</a:t>
              </a:r>
            </a:p>
            <a:p>
              <a:pPr algn="l" marL="539749" indent="-269875" lvl="1">
                <a:lnSpc>
                  <a:spcPts val="3099"/>
                </a:lnSpc>
                <a:buFont typeface="Arial"/>
                <a:buChar char="•"/>
              </a:pPr>
              <a:r>
                <a:rPr lang="en-US" sz="2499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Функц</a:t>
              </a:r>
              <a:r>
                <a:rPr lang="en-US" sz="2499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ії: Забезпечує над</a:t>
              </a:r>
              <a:r>
                <a:rPr lang="en-US" sz="2499">
                  <a:solidFill>
                    <a:srgbClr val="07133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ійне збереження інформації користувачів, безпечних хэшів паролів, метаданих завантажених фотознімків, розрахованих колірних параметрів, а також повного журналу історії проведених аналізів.</a:t>
              </a:r>
            </a:p>
            <a:p>
              <a:pPr algn="just">
                <a:lnSpc>
                  <a:spcPts val="3099"/>
                </a:lnSpc>
              </a:pP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24189" y="1706736"/>
            <a:ext cx="14039622" cy="8093739"/>
            <a:chOff x="0" y="0"/>
            <a:chExt cx="7452244" cy="4296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52244" cy="4296164"/>
            </a:xfrm>
            <a:custGeom>
              <a:avLst/>
              <a:gdLst/>
              <a:ahLst/>
              <a:cxnLst/>
              <a:rect r="r" b="b" t="t" l="l"/>
              <a:pathLst>
                <a:path h="4296164" w="7452244">
                  <a:moveTo>
                    <a:pt x="9374" y="0"/>
                  </a:moveTo>
                  <a:lnTo>
                    <a:pt x="7442869" y="0"/>
                  </a:lnTo>
                  <a:cubicBezTo>
                    <a:pt x="7448046" y="0"/>
                    <a:pt x="7452244" y="4197"/>
                    <a:pt x="7452244" y="9374"/>
                  </a:cubicBezTo>
                  <a:lnTo>
                    <a:pt x="7452244" y="4286790"/>
                  </a:lnTo>
                  <a:cubicBezTo>
                    <a:pt x="7452244" y="4291967"/>
                    <a:pt x="7448046" y="4296164"/>
                    <a:pt x="7442869" y="4296164"/>
                  </a:cubicBezTo>
                  <a:lnTo>
                    <a:pt x="9374" y="4296164"/>
                  </a:lnTo>
                  <a:cubicBezTo>
                    <a:pt x="4197" y="4296164"/>
                    <a:pt x="0" y="4291967"/>
                    <a:pt x="0" y="4286790"/>
                  </a:cubicBezTo>
                  <a:lnTo>
                    <a:pt x="0" y="9374"/>
                  </a:lnTo>
                  <a:cubicBezTo>
                    <a:pt x="0" y="4197"/>
                    <a:pt x="4197" y="0"/>
                    <a:pt x="9374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452244" cy="4334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35899" y="2377758"/>
            <a:ext cx="12816202" cy="6942195"/>
            <a:chOff x="0" y="0"/>
            <a:chExt cx="2333491" cy="12639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3491" cy="1263990"/>
            </a:xfrm>
            <a:custGeom>
              <a:avLst/>
              <a:gdLst/>
              <a:ahLst/>
              <a:cxnLst/>
              <a:rect r="r" b="b" t="t" l="l"/>
              <a:pathLst>
                <a:path h="1263990" w="2333491">
                  <a:moveTo>
                    <a:pt x="6645" y="0"/>
                  </a:moveTo>
                  <a:lnTo>
                    <a:pt x="2326846" y="0"/>
                  </a:lnTo>
                  <a:cubicBezTo>
                    <a:pt x="2328609" y="0"/>
                    <a:pt x="2330299" y="700"/>
                    <a:pt x="2331545" y="1946"/>
                  </a:cubicBezTo>
                  <a:cubicBezTo>
                    <a:pt x="2332791" y="3192"/>
                    <a:pt x="2333491" y="4882"/>
                    <a:pt x="2333491" y="6645"/>
                  </a:cubicBezTo>
                  <a:lnTo>
                    <a:pt x="2333491" y="1257345"/>
                  </a:lnTo>
                  <a:cubicBezTo>
                    <a:pt x="2333491" y="1261015"/>
                    <a:pt x="2330516" y="1263990"/>
                    <a:pt x="2326846" y="1263990"/>
                  </a:cubicBezTo>
                  <a:lnTo>
                    <a:pt x="6645" y="1263990"/>
                  </a:lnTo>
                  <a:cubicBezTo>
                    <a:pt x="2975" y="1263990"/>
                    <a:pt x="0" y="1261015"/>
                    <a:pt x="0" y="1257345"/>
                  </a:cubicBezTo>
                  <a:lnTo>
                    <a:pt x="0" y="6645"/>
                  </a:lnTo>
                  <a:cubicBezTo>
                    <a:pt x="0" y="2975"/>
                    <a:pt x="2975" y="0"/>
                    <a:pt x="6645" y="0"/>
                  </a:cubicBezTo>
                  <a:close/>
                </a:path>
              </a:pathLst>
            </a:custGeom>
            <a:blipFill>
              <a:blip r:embed="rId4"/>
              <a:stretch>
                <a:fillRect l="-244" t="0" r="-24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35899" y="2009188"/>
            <a:ext cx="761267" cy="210976"/>
            <a:chOff x="0" y="0"/>
            <a:chExt cx="1015023" cy="28130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2" id="22"/>
          <p:cNvSpPr txBox="true"/>
          <p:nvPr/>
        </p:nvSpPr>
        <p:spPr>
          <a:xfrm rot="0">
            <a:off x="1712793" y="571029"/>
            <a:ext cx="14862413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Структура бази даних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745746"/>
            <a:ext cx="16230600" cy="7271785"/>
            <a:chOff x="0" y="0"/>
            <a:chExt cx="8254069" cy="36980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4069" cy="3698065"/>
            </a:xfrm>
            <a:custGeom>
              <a:avLst/>
              <a:gdLst/>
              <a:ahLst/>
              <a:cxnLst/>
              <a:rect r="r" b="b" t="t" l="l"/>
              <a:pathLst>
                <a:path h="3698065" w="8254069">
                  <a:moveTo>
                    <a:pt x="8109" y="0"/>
                  </a:moveTo>
                  <a:lnTo>
                    <a:pt x="8245960" y="0"/>
                  </a:lnTo>
                  <a:cubicBezTo>
                    <a:pt x="8248110" y="0"/>
                    <a:pt x="8250173" y="854"/>
                    <a:pt x="8251694" y="2375"/>
                  </a:cubicBezTo>
                  <a:cubicBezTo>
                    <a:pt x="8253215" y="3896"/>
                    <a:pt x="8254069" y="5958"/>
                    <a:pt x="8254069" y="8109"/>
                  </a:cubicBezTo>
                  <a:lnTo>
                    <a:pt x="8254069" y="3689956"/>
                  </a:lnTo>
                  <a:cubicBezTo>
                    <a:pt x="8254069" y="3692107"/>
                    <a:pt x="8253215" y="3694169"/>
                    <a:pt x="8251694" y="3695690"/>
                  </a:cubicBezTo>
                  <a:cubicBezTo>
                    <a:pt x="8250173" y="3697211"/>
                    <a:pt x="8248110" y="3698065"/>
                    <a:pt x="8245960" y="3698065"/>
                  </a:cubicBezTo>
                  <a:lnTo>
                    <a:pt x="8109" y="3698065"/>
                  </a:lnTo>
                  <a:cubicBezTo>
                    <a:pt x="5958" y="3698065"/>
                    <a:pt x="3896" y="3697211"/>
                    <a:pt x="2375" y="3695690"/>
                  </a:cubicBezTo>
                  <a:cubicBezTo>
                    <a:pt x="854" y="3694169"/>
                    <a:pt x="0" y="3692107"/>
                    <a:pt x="0" y="3689956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54069" cy="3736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847534" y="5505309"/>
            <a:ext cx="5474414" cy="1236521"/>
          </a:xfrm>
          <a:custGeom>
            <a:avLst/>
            <a:gdLst/>
            <a:ahLst/>
            <a:cxnLst/>
            <a:rect r="r" b="b" t="t" l="l"/>
            <a:pathLst>
              <a:path h="1236521" w="5474414">
                <a:moveTo>
                  <a:pt x="0" y="0"/>
                </a:moveTo>
                <a:lnTo>
                  <a:pt x="5474414" y="0"/>
                </a:lnTo>
                <a:lnTo>
                  <a:pt x="5474414" y="1236521"/>
                </a:lnTo>
                <a:lnTo>
                  <a:pt x="0" y="1236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9954" y="1969296"/>
            <a:ext cx="15488092" cy="633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1. Програмна фільтрація завад. </a:t>
            </a:r>
          </a:p>
          <a:p>
            <a:pPr algn="just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Р</a:t>
            </a: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еалізовано три фільтри:</a:t>
            </a:r>
          </a:p>
          <a:p>
            <a:pPr algn="just">
              <a:lnSpc>
                <a:spcPts val="1860"/>
              </a:lnSpc>
            </a:pPr>
          </a:p>
          <a:p>
            <a:pPr algn="just" marL="561339" indent="-280669" lvl="1">
              <a:lnSpc>
                <a:spcPts val="322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Фільтр рослинності: </a:t>
            </a:r>
            <a:r>
              <a:rPr lang="en-US" sz="25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G &gt; R + 25 ∧ G &gt; B + 15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(відсікає траву та мох);</a:t>
            </a:r>
          </a:p>
          <a:p>
            <a:pPr algn="just" marL="561339" indent="-280669" lvl="1">
              <a:lnSpc>
                <a:spcPts val="322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Фільтр бліків: </a:t>
            </a:r>
            <a:r>
              <a:rPr lang="en-US" sz="25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 &gt; 230 ∧ &gt; 230 ∧ B &gt; 230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(відсікає світлі камінці);</a:t>
            </a:r>
          </a:p>
          <a:p>
            <a:pPr algn="just" marL="561339" indent="-280669" lvl="1">
              <a:lnSpc>
                <a:spcPts val="322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Фільтр тіней: </a:t>
            </a:r>
            <a:r>
              <a:rPr lang="en-US" sz="25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 &lt; 15 ∧ G &lt; 15 ∧ B &lt; 15 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(відсікає глибокі затінення).</a:t>
            </a:r>
          </a:p>
          <a:p>
            <a:pPr algn="just">
              <a:lnSpc>
                <a:spcPts val="1860"/>
              </a:lnSpc>
            </a:pPr>
          </a:p>
          <a:p>
            <a:pPr algn="just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2. </a:t>
            </a: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Математичний аналіз очищених пікселів:</a:t>
            </a:r>
          </a:p>
          <a:p>
            <a:pPr algn="just">
              <a:lnSpc>
                <a:spcPts val="1860"/>
              </a:lnSpc>
            </a:pPr>
          </a:p>
          <a:p>
            <a:pPr algn="just" marL="561339" indent="-280669" lvl="1">
              <a:lnSpc>
                <a:spcPts val="322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Яскравість:</a:t>
            </a:r>
            <a:r>
              <a:rPr lang="en-US" sz="25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Brightness = 0.299R + 0.587G + 0.114B</a:t>
            </a:r>
          </a:p>
          <a:p>
            <a:pPr algn="just">
              <a:lnSpc>
                <a:spcPts val="3223"/>
              </a:lnSpc>
            </a:pPr>
          </a:p>
          <a:p>
            <a:pPr algn="just" marL="561339" indent="-280669" lvl="1">
              <a:lnSpc>
                <a:spcPts val="322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Насиченість: </a:t>
            </a:r>
          </a:p>
          <a:p>
            <a:pPr algn="just">
              <a:lnSpc>
                <a:spcPts val="3223"/>
              </a:lnSpc>
            </a:pPr>
          </a:p>
          <a:p>
            <a:pPr algn="just">
              <a:lnSpc>
                <a:spcPts val="1860"/>
              </a:lnSpc>
            </a:pPr>
          </a:p>
          <a:p>
            <a:pPr algn="just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3. </a:t>
            </a: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Послідовність обробки:</a:t>
            </a:r>
          </a:p>
          <a:p>
            <a:pPr algn="just">
              <a:lnSpc>
                <a:spcPts val="1860"/>
              </a:lnSpc>
            </a:pPr>
          </a:p>
          <a:p>
            <a:pPr algn="just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Фотофіксація → Трирівнева фільтрація → Розрахунок вектора ознак → Прогноз ML.NET (або резервний розрахунок по яскравості) → Запис в SQL Server.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73654"/>
            <a:ext cx="1486241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Основні алгоритми системи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22733" y="2212150"/>
            <a:ext cx="8128863" cy="6844280"/>
            <a:chOff x="0" y="0"/>
            <a:chExt cx="4670726" cy="39326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0726" cy="3932623"/>
            </a:xfrm>
            <a:custGeom>
              <a:avLst/>
              <a:gdLst/>
              <a:ahLst/>
              <a:cxnLst/>
              <a:rect r="r" b="b" t="t" l="l"/>
              <a:pathLst>
                <a:path h="3932623" w="4670726">
                  <a:moveTo>
                    <a:pt x="16191" y="0"/>
                  </a:moveTo>
                  <a:lnTo>
                    <a:pt x="4654535" y="0"/>
                  </a:lnTo>
                  <a:cubicBezTo>
                    <a:pt x="4663477" y="0"/>
                    <a:pt x="4670726" y="7249"/>
                    <a:pt x="4670726" y="16191"/>
                  </a:cubicBezTo>
                  <a:lnTo>
                    <a:pt x="4670726" y="3916432"/>
                  </a:lnTo>
                  <a:cubicBezTo>
                    <a:pt x="4670726" y="3925374"/>
                    <a:pt x="4663477" y="3932623"/>
                    <a:pt x="4654535" y="3932623"/>
                  </a:cubicBezTo>
                  <a:lnTo>
                    <a:pt x="16191" y="3932623"/>
                  </a:lnTo>
                  <a:cubicBezTo>
                    <a:pt x="7249" y="3932623"/>
                    <a:pt x="0" y="3925374"/>
                    <a:pt x="0" y="3916432"/>
                  </a:cubicBezTo>
                  <a:lnTo>
                    <a:pt x="0" y="16191"/>
                  </a:lnTo>
                  <a:cubicBezTo>
                    <a:pt x="0" y="7249"/>
                    <a:pt x="7249" y="0"/>
                    <a:pt x="1619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70726" cy="397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83430" y="2935627"/>
            <a:ext cx="7171327" cy="5582169"/>
            <a:chOff x="0" y="0"/>
            <a:chExt cx="1623829" cy="1263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3828" cy="1263990"/>
            </a:xfrm>
            <a:custGeom>
              <a:avLst/>
              <a:gdLst/>
              <a:ahLst/>
              <a:cxnLst/>
              <a:rect r="r" b="b" t="t" l="l"/>
              <a:pathLst>
                <a:path h="1263990" w="1623828">
                  <a:moveTo>
                    <a:pt x="11875" y="0"/>
                  </a:moveTo>
                  <a:lnTo>
                    <a:pt x="1611953" y="0"/>
                  </a:lnTo>
                  <a:cubicBezTo>
                    <a:pt x="1618512" y="0"/>
                    <a:pt x="1623828" y="5317"/>
                    <a:pt x="1623828" y="11875"/>
                  </a:cubicBezTo>
                  <a:lnTo>
                    <a:pt x="1623828" y="1252115"/>
                  </a:lnTo>
                  <a:cubicBezTo>
                    <a:pt x="1623828" y="1258673"/>
                    <a:pt x="1618512" y="1263990"/>
                    <a:pt x="1611953" y="1263990"/>
                  </a:cubicBezTo>
                  <a:lnTo>
                    <a:pt x="11875" y="1263990"/>
                  </a:lnTo>
                  <a:cubicBezTo>
                    <a:pt x="5317" y="1263990"/>
                    <a:pt x="0" y="1258673"/>
                    <a:pt x="0" y="1252115"/>
                  </a:cubicBezTo>
                  <a:lnTo>
                    <a:pt x="0" y="11875"/>
                  </a:lnTo>
                  <a:cubicBezTo>
                    <a:pt x="0" y="5317"/>
                    <a:pt x="5317" y="0"/>
                    <a:pt x="1187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5" r="0" b="-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83430" y="2466997"/>
            <a:ext cx="761267" cy="210976"/>
            <a:chOff x="0" y="0"/>
            <a:chExt cx="1015023" cy="28130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grpSp>
        <p:nvGrpSpPr>
          <p:cNvPr name="Group 17" id="17"/>
          <p:cNvGrpSpPr/>
          <p:nvPr/>
        </p:nvGrpSpPr>
        <p:grpSpPr>
          <a:xfrm rot="0">
            <a:off x="626954" y="2212150"/>
            <a:ext cx="8128863" cy="6844280"/>
            <a:chOff x="0" y="0"/>
            <a:chExt cx="4670726" cy="3932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70726" cy="3932623"/>
            </a:xfrm>
            <a:custGeom>
              <a:avLst/>
              <a:gdLst/>
              <a:ahLst/>
              <a:cxnLst/>
              <a:rect r="r" b="b" t="t" l="l"/>
              <a:pathLst>
                <a:path h="3932623" w="4670726">
                  <a:moveTo>
                    <a:pt x="16191" y="0"/>
                  </a:moveTo>
                  <a:lnTo>
                    <a:pt x="4654535" y="0"/>
                  </a:lnTo>
                  <a:cubicBezTo>
                    <a:pt x="4663477" y="0"/>
                    <a:pt x="4670726" y="7249"/>
                    <a:pt x="4670726" y="16191"/>
                  </a:cubicBezTo>
                  <a:lnTo>
                    <a:pt x="4670726" y="3916432"/>
                  </a:lnTo>
                  <a:cubicBezTo>
                    <a:pt x="4670726" y="3925374"/>
                    <a:pt x="4663477" y="3932623"/>
                    <a:pt x="4654535" y="3932623"/>
                  </a:cubicBezTo>
                  <a:lnTo>
                    <a:pt x="16191" y="3932623"/>
                  </a:lnTo>
                  <a:cubicBezTo>
                    <a:pt x="7249" y="3932623"/>
                    <a:pt x="0" y="3925374"/>
                    <a:pt x="0" y="3916432"/>
                  </a:cubicBezTo>
                  <a:lnTo>
                    <a:pt x="0" y="16191"/>
                  </a:lnTo>
                  <a:cubicBezTo>
                    <a:pt x="0" y="7249"/>
                    <a:pt x="7249" y="0"/>
                    <a:pt x="1619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70726" cy="3970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7651" y="2935627"/>
            <a:ext cx="7171327" cy="5582169"/>
            <a:chOff x="0" y="0"/>
            <a:chExt cx="1623829" cy="1263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3828" cy="1263990"/>
            </a:xfrm>
            <a:custGeom>
              <a:avLst/>
              <a:gdLst/>
              <a:ahLst/>
              <a:cxnLst/>
              <a:rect r="r" b="b" t="t" l="l"/>
              <a:pathLst>
                <a:path h="1263990" w="1623828">
                  <a:moveTo>
                    <a:pt x="11875" y="0"/>
                  </a:moveTo>
                  <a:lnTo>
                    <a:pt x="1611953" y="0"/>
                  </a:lnTo>
                  <a:cubicBezTo>
                    <a:pt x="1618512" y="0"/>
                    <a:pt x="1623828" y="5317"/>
                    <a:pt x="1623828" y="11875"/>
                  </a:cubicBezTo>
                  <a:lnTo>
                    <a:pt x="1623828" y="1252115"/>
                  </a:lnTo>
                  <a:cubicBezTo>
                    <a:pt x="1623828" y="1258673"/>
                    <a:pt x="1618512" y="1263990"/>
                    <a:pt x="1611953" y="1263990"/>
                  </a:cubicBezTo>
                  <a:lnTo>
                    <a:pt x="11875" y="1263990"/>
                  </a:lnTo>
                  <a:cubicBezTo>
                    <a:pt x="5317" y="1263990"/>
                    <a:pt x="0" y="1258673"/>
                    <a:pt x="0" y="1252115"/>
                  </a:cubicBezTo>
                  <a:lnTo>
                    <a:pt x="0" y="11875"/>
                  </a:lnTo>
                  <a:cubicBezTo>
                    <a:pt x="0" y="5317"/>
                    <a:pt x="5317" y="0"/>
                    <a:pt x="11875" y="0"/>
                  </a:cubicBezTo>
                  <a:close/>
                </a:path>
              </a:pathLst>
            </a:custGeom>
            <a:blipFill>
              <a:blip r:embed="rId5"/>
              <a:stretch>
                <a:fillRect l="-569" t="0" r="-56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7651" y="2466997"/>
            <a:ext cx="761267" cy="210976"/>
            <a:chOff x="0" y="0"/>
            <a:chExt cx="1015023" cy="28130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grpSp>
        <p:nvGrpSpPr>
          <p:cNvPr name="Group 29" id="29"/>
          <p:cNvGrpSpPr/>
          <p:nvPr/>
        </p:nvGrpSpPr>
        <p:grpSpPr>
          <a:xfrm rot="0">
            <a:off x="17451597" y="9218352"/>
            <a:ext cx="578792" cy="582123"/>
            <a:chOff x="0" y="0"/>
            <a:chExt cx="771722" cy="77616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771722" cy="776165"/>
              <a:chOff x="0" y="0"/>
              <a:chExt cx="247841" cy="24926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47841" cy="249267"/>
              </a:xfrm>
              <a:custGeom>
                <a:avLst/>
                <a:gdLst/>
                <a:ahLst/>
                <a:cxnLst/>
                <a:rect r="r" b="b" t="t" l="l"/>
                <a:pathLst>
                  <a:path h="249267" w="247841">
                    <a:moveTo>
                      <a:pt x="123920" y="0"/>
                    </a:moveTo>
                    <a:lnTo>
                      <a:pt x="123920" y="0"/>
                    </a:lnTo>
                    <a:cubicBezTo>
                      <a:pt x="156786" y="0"/>
                      <a:pt x="188306" y="13056"/>
                      <a:pt x="211545" y="36295"/>
                    </a:cubicBezTo>
                    <a:cubicBezTo>
                      <a:pt x="234785" y="59535"/>
                      <a:pt x="247841" y="91055"/>
                      <a:pt x="247841" y="123920"/>
                    </a:cubicBezTo>
                    <a:lnTo>
                      <a:pt x="247841" y="125347"/>
                    </a:lnTo>
                    <a:cubicBezTo>
                      <a:pt x="247841" y="158213"/>
                      <a:pt x="234785" y="189732"/>
                      <a:pt x="211545" y="212972"/>
                    </a:cubicBezTo>
                    <a:cubicBezTo>
                      <a:pt x="188306" y="236212"/>
                      <a:pt x="156786" y="249267"/>
                      <a:pt x="123920" y="249267"/>
                    </a:cubicBezTo>
                    <a:lnTo>
                      <a:pt x="123920" y="249267"/>
                    </a:lnTo>
                    <a:cubicBezTo>
                      <a:pt x="91055" y="249267"/>
                      <a:pt x="59535" y="236212"/>
                      <a:pt x="36295" y="212972"/>
                    </a:cubicBezTo>
                    <a:cubicBezTo>
                      <a:pt x="13056" y="189732"/>
                      <a:pt x="0" y="158213"/>
                      <a:pt x="0" y="125347"/>
                    </a:cubicBezTo>
                    <a:lnTo>
                      <a:pt x="0" y="123920"/>
                    </a:lnTo>
                    <a:cubicBezTo>
                      <a:pt x="0" y="91055"/>
                      <a:pt x="13056" y="59535"/>
                      <a:pt x="36295" y="36295"/>
                    </a:cubicBezTo>
                    <a:cubicBezTo>
                      <a:pt x="59535" y="13056"/>
                      <a:pt x="91055" y="0"/>
                      <a:pt x="123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47841" cy="287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12050" y="132897"/>
              <a:ext cx="347623" cy="548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6"/>
                </a:lnSpc>
              </a:pPr>
              <a:r>
                <a:rPr lang="en-US" sz="2900" b="true">
                  <a:solidFill>
                    <a:srgbClr val="07133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26954" y="675736"/>
            <a:ext cx="1486241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Інтерфейс користувача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7687" y="2429900"/>
            <a:ext cx="14712626" cy="6861070"/>
            <a:chOff x="0" y="0"/>
            <a:chExt cx="8453659" cy="3942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53659" cy="3942270"/>
            </a:xfrm>
            <a:custGeom>
              <a:avLst/>
              <a:gdLst/>
              <a:ahLst/>
              <a:cxnLst/>
              <a:rect r="r" b="b" t="t" l="l"/>
              <a:pathLst>
                <a:path h="3942270" w="8453659">
                  <a:moveTo>
                    <a:pt x="8946" y="0"/>
                  </a:moveTo>
                  <a:lnTo>
                    <a:pt x="8444714" y="0"/>
                  </a:lnTo>
                  <a:cubicBezTo>
                    <a:pt x="8449654" y="0"/>
                    <a:pt x="8453659" y="4005"/>
                    <a:pt x="8453659" y="8946"/>
                  </a:cubicBezTo>
                  <a:lnTo>
                    <a:pt x="8453659" y="3933325"/>
                  </a:lnTo>
                  <a:cubicBezTo>
                    <a:pt x="8453659" y="3935697"/>
                    <a:pt x="8452717" y="3937972"/>
                    <a:pt x="8451039" y="3939650"/>
                  </a:cubicBezTo>
                  <a:cubicBezTo>
                    <a:pt x="8449362" y="3941328"/>
                    <a:pt x="8447086" y="3942270"/>
                    <a:pt x="8444714" y="3942270"/>
                  </a:cubicBezTo>
                  <a:lnTo>
                    <a:pt x="8946" y="3942270"/>
                  </a:lnTo>
                  <a:cubicBezTo>
                    <a:pt x="4005" y="3942270"/>
                    <a:pt x="0" y="3938265"/>
                    <a:pt x="0" y="3933325"/>
                  </a:cubicBezTo>
                  <a:lnTo>
                    <a:pt x="0" y="8946"/>
                  </a:lnTo>
                  <a:cubicBezTo>
                    <a:pt x="0" y="6573"/>
                    <a:pt x="942" y="4298"/>
                    <a:pt x="2620" y="2620"/>
                  </a:cubicBezTo>
                  <a:cubicBezTo>
                    <a:pt x="4298" y="942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453659" cy="3980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85329" y="3112858"/>
            <a:ext cx="13517343" cy="5582169"/>
            <a:chOff x="0" y="0"/>
            <a:chExt cx="3060779" cy="1263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60779" cy="1263990"/>
            </a:xfrm>
            <a:custGeom>
              <a:avLst/>
              <a:gdLst/>
              <a:ahLst/>
              <a:cxnLst/>
              <a:rect r="r" b="b" t="t" l="l"/>
              <a:pathLst>
                <a:path h="1263990" w="3060779">
                  <a:moveTo>
                    <a:pt x="6300" y="0"/>
                  </a:moveTo>
                  <a:lnTo>
                    <a:pt x="3054478" y="0"/>
                  </a:lnTo>
                  <a:cubicBezTo>
                    <a:pt x="3056150" y="0"/>
                    <a:pt x="3057752" y="664"/>
                    <a:pt x="3058933" y="1845"/>
                  </a:cubicBezTo>
                  <a:cubicBezTo>
                    <a:pt x="3060115" y="3027"/>
                    <a:pt x="3060779" y="4629"/>
                    <a:pt x="3060779" y="6300"/>
                  </a:cubicBezTo>
                  <a:lnTo>
                    <a:pt x="3060779" y="1257690"/>
                  </a:lnTo>
                  <a:cubicBezTo>
                    <a:pt x="3060779" y="1259361"/>
                    <a:pt x="3060115" y="1260963"/>
                    <a:pt x="3058933" y="1262145"/>
                  </a:cubicBezTo>
                  <a:cubicBezTo>
                    <a:pt x="3057752" y="1263326"/>
                    <a:pt x="3056150" y="1263990"/>
                    <a:pt x="3054478" y="1263990"/>
                  </a:cubicBezTo>
                  <a:lnTo>
                    <a:pt x="6300" y="1263990"/>
                  </a:lnTo>
                  <a:cubicBezTo>
                    <a:pt x="4629" y="1263990"/>
                    <a:pt x="3027" y="1263326"/>
                    <a:pt x="1845" y="1262145"/>
                  </a:cubicBezTo>
                  <a:cubicBezTo>
                    <a:pt x="664" y="1260963"/>
                    <a:pt x="0" y="1259361"/>
                    <a:pt x="0" y="1257690"/>
                  </a:cubicBezTo>
                  <a:lnTo>
                    <a:pt x="0" y="6300"/>
                  </a:lnTo>
                  <a:cubicBezTo>
                    <a:pt x="0" y="4629"/>
                    <a:pt x="664" y="3027"/>
                    <a:pt x="1845" y="1845"/>
                  </a:cubicBezTo>
                  <a:cubicBezTo>
                    <a:pt x="3027" y="664"/>
                    <a:pt x="4629" y="0"/>
                    <a:pt x="63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7" r="0" b="-4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85329" y="2687644"/>
            <a:ext cx="761267" cy="210976"/>
            <a:chOff x="0" y="0"/>
            <a:chExt cx="1015023" cy="281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812010" y="876383"/>
            <a:ext cx="16663980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Додаткові модулі інтерфейсу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7687" y="2429900"/>
            <a:ext cx="14712626" cy="6861070"/>
            <a:chOff x="0" y="0"/>
            <a:chExt cx="8453659" cy="3942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53659" cy="3942270"/>
            </a:xfrm>
            <a:custGeom>
              <a:avLst/>
              <a:gdLst/>
              <a:ahLst/>
              <a:cxnLst/>
              <a:rect r="r" b="b" t="t" l="l"/>
              <a:pathLst>
                <a:path h="3942270" w="8453659">
                  <a:moveTo>
                    <a:pt x="8946" y="0"/>
                  </a:moveTo>
                  <a:lnTo>
                    <a:pt x="8444714" y="0"/>
                  </a:lnTo>
                  <a:cubicBezTo>
                    <a:pt x="8449654" y="0"/>
                    <a:pt x="8453659" y="4005"/>
                    <a:pt x="8453659" y="8946"/>
                  </a:cubicBezTo>
                  <a:lnTo>
                    <a:pt x="8453659" y="3933325"/>
                  </a:lnTo>
                  <a:cubicBezTo>
                    <a:pt x="8453659" y="3935697"/>
                    <a:pt x="8452717" y="3937972"/>
                    <a:pt x="8451039" y="3939650"/>
                  </a:cubicBezTo>
                  <a:cubicBezTo>
                    <a:pt x="8449362" y="3941328"/>
                    <a:pt x="8447086" y="3942270"/>
                    <a:pt x="8444714" y="3942270"/>
                  </a:cubicBezTo>
                  <a:lnTo>
                    <a:pt x="8946" y="3942270"/>
                  </a:lnTo>
                  <a:cubicBezTo>
                    <a:pt x="4005" y="3942270"/>
                    <a:pt x="0" y="3938265"/>
                    <a:pt x="0" y="3933325"/>
                  </a:cubicBezTo>
                  <a:lnTo>
                    <a:pt x="0" y="8946"/>
                  </a:lnTo>
                  <a:cubicBezTo>
                    <a:pt x="0" y="6573"/>
                    <a:pt x="942" y="4298"/>
                    <a:pt x="2620" y="2620"/>
                  </a:cubicBezTo>
                  <a:cubicBezTo>
                    <a:pt x="4298" y="942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453659" cy="3980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85329" y="3112858"/>
            <a:ext cx="13517343" cy="5582169"/>
            <a:chOff x="0" y="0"/>
            <a:chExt cx="3060779" cy="1263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60779" cy="1263990"/>
            </a:xfrm>
            <a:custGeom>
              <a:avLst/>
              <a:gdLst/>
              <a:ahLst/>
              <a:cxnLst/>
              <a:rect r="r" b="b" t="t" l="l"/>
              <a:pathLst>
                <a:path h="1263990" w="3060779">
                  <a:moveTo>
                    <a:pt x="6300" y="0"/>
                  </a:moveTo>
                  <a:lnTo>
                    <a:pt x="3054478" y="0"/>
                  </a:lnTo>
                  <a:cubicBezTo>
                    <a:pt x="3056150" y="0"/>
                    <a:pt x="3057752" y="664"/>
                    <a:pt x="3058933" y="1845"/>
                  </a:cubicBezTo>
                  <a:cubicBezTo>
                    <a:pt x="3060115" y="3027"/>
                    <a:pt x="3060779" y="4629"/>
                    <a:pt x="3060779" y="6300"/>
                  </a:cubicBezTo>
                  <a:lnTo>
                    <a:pt x="3060779" y="1257690"/>
                  </a:lnTo>
                  <a:cubicBezTo>
                    <a:pt x="3060779" y="1259361"/>
                    <a:pt x="3060115" y="1260963"/>
                    <a:pt x="3058933" y="1262145"/>
                  </a:cubicBezTo>
                  <a:cubicBezTo>
                    <a:pt x="3057752" y="1263326"/>
                    <a:pt x="3056150" y="1263990"/>
                    <a:pt x="3054478" y="1263990"/>
                  </a:cubicBezTo>
                  <a:lnTo>
                    <a:pt x="6300" y="1263990"/>
                  </a:lnTo>
                  <a:cubicBezTo>
                    <a:pt x="4629" y="1263990"/>
                    <a:pt x="3027" y="1263326"/>
                    <a:pt x="1845" y="1262145"/>
                  </a:cubicBezTo>
                  <a:cubicBezTo>
                    <a:pt x="664" y="1260963"/>
                    <a:pt x="0" y="1259361"/>
                    <a:pt x="0" y="1257690"/>
                  </a:cubicBezTo>
                  <a:lnTo>
                    <a:pt x="0" y="6300"/>
                  </a:lnTo>
                  <a:cubicBezTo>
                    <a:pt x="0" y="4629"/>
                    <a:pt x="664" y="3027"/>
                    <a:pt x="1845" y="1845"/>
                  </a:cubicBezTo>
                  <a:cubicBezTo>
                    <a:pt x="3027" y="664"/>
                    <a:pt x="4629" y="0"/>
                    <a:pt x="6300" y="0"/>
                  </a:cubicBezTo>
                  <a:close/>
                </a:path>
              </a:pathLst>
            </a:custGeom>
            <a:blipFill>
              <a:blip r:embed="rId4"/>
              <a:stretch>
                <a:fillRect l="-305" t="0" r="-3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85329" y="2687644"/>
            <a:ext cx="761267" cy="210976"/>
            <a:chOff x="0" y="0"/>
            <a:chExt cx="1015023" cy="281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2010" y="876383"/>
            <a:ext cx="16663980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Додаткові модулі інтерфейсу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87687" y="2429900"/>
            <a:ext cx="14712626" cy="6861070"/>
            <a:chOff x="0" y="0"/>
            <a:chExt cx="8453659" cy="3942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53659" cy="3942270"/>
            </a:xfrm>
            <a:custGeom>
              <a:avLst/>
              <a:gdLst/>
              <a:ahLst/>
              <a:cxnLst/>
              <a:rect r="r" b="b" t="t" l="l"/>
              <a:pathLst>
                <a:path h="3942270" w="8453659">
                  <a:moveTo>
                    <a:pt x="8946" y="0"/>
                  </a:moveTo>
                  <a:lnTo>
                    <a:pt x="8444714" y="0"/>
                  </a:lnTo>
                  <a:cubicBezTo>
                    <a:pt x="8449654" y="0"/>
                    <a:pt x="8453659" y="4005"/>
                    <a:pt x="8453659" y="8946"/>
                  </a:cubicBezTo>
                  <a:lnTo>
                    <a:pt x="8453659" y="3933325"/>
                  </a:lnTo>
                  <a:cubicBezTo>
                    <a:pt x="8453659" y="3935697"/>
                    <a:pt x="8452717" y="3937972"/>
                    <a:pt x="8451039" y="3939650"/>
                  </a:cubicBezTo>
                  <a:cubicBezTo>
                    <a:pt x="8449362" y="3941328"/>
                    <a:pt x="8447086" y="3942270"/>
                    <a:pt x="8444714" y="3942270"/>
                  </a:cubicBezTo>
                  <a:lnTo>
                    <a:pt x="8946" y="3942270"/>
                  </a:lnTo>
                  <a:cubicBezTo>
                    <a:pt x="4005" y="3942270"/>
                    <a:pt x="0" y="3938265"/>
                    <a:pt x="0" y="3933325"/>
                  </a:cubicBezTo>
                  <a:lnTo>
                    <a:pt x="0" y="8946"/>
                  </a:lnTo>
                  <a:cubicBezTo>
                    <a:pt x="0" y="6573"/>
                    <a:pt x="942" y="4298"/>
                    <a:pt x="2620" y="2620"/>
                  </a:cubicBezTo>
                  <a:cubicBezTo>
                    <a:pt x="4298" y="942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453659" cy="3980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85329" y="3112858"/>
            <a:ext cx="13517343" cy="5582169"/>
            <a:chOff x="0" y="0"/>
            <a:chExt cx="3060779" cy="1263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60779" cy="1263990"/>
            </a:xfrm>
            <a:custGeom>
              <a:avLst/>
              <a:gdLst/>
              <a:ahLst/>
              <a:cxnLst/>
              <a:rect r="r" b="b" t="t" l="l"/>
              <a:pathLst>
                <a:path h="1263990" w="3060779">
                  <a:moveTo>
                    <a:pt x="6300" y="0"/>
                  </a:moveTo>
                  <a:lnTo>
                    <a:pt x="3054478" y="0"/>
                  </a:lnTo>
                  <a:cubicBezTo>
                    <a:pt x="3056150" y="0"/>
                    <a:pt x="3057752" y="664"/>
                    <a:pt x="3058933" y="1845"/>
                  </a:cubicBezTo>
                  <a:cubicBezTo>
                    <a:pt x="3060115" y="3027"/>
                    <a:pt x="3060779" y="4629"/>
                    <a:pt x="3060779" y="6300"/>
                  </a:cubicBezTo>
                  <a:lnTo>
                    <a:pt x="3060779" y="1257690"/>
                  </a:lnTo>
                  <a:cubicBezTo>
                    <a:pt x="3060779" y="1259361"/>
                    <a:pt x="3060115" y="1260963"/>
                    <a:pt x="3058933" y="1262145"/>
                  </a:cubicBezTo>
                  <a:cubicBezTo>
                    <a:pt x="3057752" y="1263326"/>
                    <a:pt x="3056150" y="1263990"/>
                    <a:pt x="3054478" y="1263990"/>
                  </a:cubicBezTo>
                  <a:lnTo>
                    <a:pt x="6300" y="1263990"/>
                  </a:lnTo>
                  <a:cubicBezTo>
                    <a:pt x="4629" y="1263990"/>
                    <a:pt x="3027" y="1263326"/>
                    <a:pt x="1845" y="1262145"/>
                  </a:cubicBezTo>
                  <a:cubicBezTo>
                    <a:pt x="664" y="1260963"/>
                    <a:pt x="0" y="1259361"/>
                    <a:pt x="0" y="1257690"/>
                  </a:cubicBezTo>
                  <a:lnTo>
                    <a:pt x="0" y="6300"/>
                  </a:lnTo>
                  <a:cubicBezTo>
                    <a:pt x="0" y="4629"/>
                    <a:pt x="664" y="3027"/>
                    <a:pt x="1845" y="1845"/>
                  </a:cubicBezTo>
                  <a:cubicBezTo>
                    <a:pt x="3027" y="664"/>
                    <a:pt x="4629" y="0"/>
                    <a:pt x="63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5" r="0" b="-16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85329" y="2687644"/>
            <a:ext cx="761267" cy="210976"/>
            <a:chOff x="0" y="0"/>
            <a:chExt cx="1015023" cy="281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2010" y="876383"/>
            <a:ext cx="16663980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Додаткові модулі інтерфейсу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99813" y="2429900"/>
            <a:ext cx="12617692" cy="7300998"/>
            <a:chOff x="0" y="0"/>
            <a:chExt cx="7249941" cy="41950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9940" cy="4195047"/>
            </a:xfrm>
            <a:custGeom>
              <a:avLst/>
              <a:gdLst/>
              <a:ahLst/>
              <a:cxnLst/>
              <a:rect r="r" b="b" t="t" l="l"/>
              <a:pathLst>
                <a:path h="4195047" w="7249940">
                  <a:moveTo>
                    <a:pt x="10431" y="0"/>
                  </a:moveTo>
                  <a:lnTo>
                    <a:pt x="7239509" y="0"/>
                  </a:lnTo>
                  <a:cubicBezTo>
                    <a:pt x="7242276" y="0"/>
                    <a:pt x="7244929" y="1099"/>
                    <a:pt x="7246886" y="3055"/>
                  </a:cubicBezTo>
                  <a:cubicBezTo>
                    <a:pt x="7248841" y="5011"/>
                    <a:pt x="7249940" y="7664"/>
                    <a:pt x="7249940" y="10431"/>
                  </a:cubicBezTo>
                  <a:lnTo>
                    <a:pt x="7249940" y="4184616"/>
                  </a:lnTo>
                  <a:cubicBezTo>
                    <a:pt x="7249940" y="4190377"/>
                    <a:pt x="7245270" y="4195047"/>
                    <a:pt x="7239509" y="4195047"/>
                  </a:cubicBezTo>
                  <a:lnTo>
                    <a:pt x="10431" y="4195047"/>
                  </a:lnTo>
                  <a:cubicBezTo>
                    <a:pt x="4670" y="4195047"/>
                    <a:pt x="0" y="4190377"/>
                    <a:pt x="0" y="4184616"/>
                  </a:cubicBezTo>
                  <a:lnTo>
                    <a:pt x="0" y="10431"/>
                  </a:lnTo>
                  <a:cubicBezTo>
                    <a:pt x="0" y="4670"/>
                    <a:pt x="4670" y="0"/>
                    <a:pt x="1043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49941" cy="423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4966" y="2721498"/>
            <a:ext cx="9478069" cy="6717802"/>
            <a:chOff x="0" y="0"/>
            <a:chExt cx="3060779" cy="21693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60779" cy="2169398"/>
            </a:xfrm>
            <a:custGeom>
              <a:avLst/>
              <a:gdLst/>
              <a:ahLst/>
              <a:cxnLst/>
              <a:rect r="r" b="b" t="t" l="l"/>
              <a:pathLst>
                <a:path h="2169398" w="3060779">
                  <a:moveTo>
                    <a:pt x="8985" y="0"/>
                  </a:moveTo>
                  <a:lnTo>
                    <a:pt x="3051794" y="0"/>
                  </a:lnTo>
                  <a:cubicBezTo>
                    <a:pt x="3056756" y="0"/>
                    <a:pt x="3060779" y="4023"/>
                    <a:pt x="3060779" y="8985"/>
                  </a:cubicBezTo>
                  <a:lnTo>
                    <a:pt x="3060779" y="2160413"/>
                  </a:lnTo>
                  <a:cubicBezTo>
                    <a:pt x="3060779" y="2165376"/>
                    <a:pt x="3056756" y="2169398"/>
                    <a:pt x="3051794" y="2169398"/>
                  </a:cubicBezTo>
                  <a:lnTo>
                    <a:pt x="8985" y="2169398"/>
                  </a:lnTo>
                  <a:cubicBezTo>
                    <a:pt x="4023" y="2169398"/>
                    <a:pt x="0" y="2165376"/>
                    <a:pt x="0" y="2160413"/>
                  </a:cubicBezTo>
                  <a:lnTo>
                    <a:pt x="0" y="8985"/>
                  </a:lnTo>
                  <a:cubicBezTo>
                    <a:pt x="0" y="4023"/>
                    <a:pt x="4023" y="0"/>
                    <a:pt x="8985" y="0"/>
                  </a:cubicBezTo>
                  <a:close/>
                </a:path>
              </a:pathLst>
            </a:custGeom>
            <a:blipFill>
              <a:blip r:embed="rId4"/>
              <a:stretch>
                <a:fillRect l="-106" t="0" r="-10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187094" y="2687644"/>
            <a:ext cx="761267" cy="210976"/>
            <a:chOff x="0" y="0"/>
            <a:chExt cx="1015023" cy="281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2010" y="876383"/>
            <a:ext cx="16663980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Додаткові модулі інтерфейсу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50362" y="1895163"/>
            <a:ext cx="7987276" cy="8161097"/>
            <a:chOff x="0" y="0"/>
            <a:chExt cx="4589372" cy="46892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9371" cy="4689247"/>
            </a:xfrm>
            <a:custGeom>
              <a:avLst/>
              <a:gdLst/>
              <a:ahLst/>
              <a:cxnLst/>
              <a:rect r="r" b="b" t="t" l="l"/>
              <a:pathLst>
                <a:path h="4689247" w="4589371">
                  <a:moveTo>
                    <a:pt x="16478" y="0"/>
                  </a:moveTo>
                  <a:lnTo>
                    <a:pt x="4572894" y="0"/>
                  </a:lnTo>
                  <a:cubicBezTo>
                    <a:pt x="4577264" y="0"/>
                    <a:pt x="4581455" y="1736"/>
                    <a:pt x="4584545" y="4826"/>
                  </a:cubicBezTo>
                  <a:cubicBezTo>
                    <a:pt x="4587635" y="7916"/>
                    <a:pt x="4589371" y="12108"/>
                    <a:pt x="4589371" y="16478"/>
                  </a:cubicBezTo>
                  <a:lnTo>
                    <a:pt x="4589371" y="4672769"/>
                  </a:lnTo>
                  <a:cubicBezTo>
                    <a:pt x="4589371" y="4677139"/>
                    <a:pt x="4587635" y="4681330"/>
                    <a:pt x="4584545" y="4684421"/>
                  </a:cubicBezTo>
                  <a:cubicBezTo>
                    <a:pt x="4581455" y="4687511"/>
                    <a:pt x="4577264" y="4689247"/>
                    <a:pt x="4572894" y="4689247"/>
                  </a:cubicBezTo>
                  <a:lnTo>
                    <a:pt x="16478" y="4689247"/>
                  </a:lnTo>
                  <a:cubicBezTo>
                    <a:pt x="12108" y="4689247"/>
                    <a:pt x="7916" y="4687511"/>
                    <a:pt x="4826" y="4684421"/>
                  </a:cubicBezTo>
                  <a:cubicBezTo>
                    <a:pt x="1736" y="4681330"/>
                    <a:pt x="0" y="4677139"/>
                    <a:pt x="0" y="4672769"/>
                  </a:cubicBezTo>
                  <a:lnTo>
                    <a:pt x="0" y="16478"/>
                  </a:lnTo>
                  <a:cubicBezTo>
                    <a:pt x="0" y="12108"/>
                    <a:pt x="1736" y="7916"/>
                    <a:pt x="4826" y="4826"/>
                  </a:cubicBezTo>
                  <a:cubicBezTo>
                    <a:pt x="7916" y="1736"/>
                    <a:pt x="12108" y="0"/>
                    <a:pt x="16478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89372" cy="4727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7044" y="2150947"/>
            <a:ext cx="5720820" cy="7649528"/>
            <a:chOff x="0" y="0"/>
            <a:chExt cx="3060779" cy="40926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60779" cy="4092685"/>
            </a:xfrm>
            <a:custGeom>
              <a:avLst/>
              <a:gdLst/>
              <a:ahLst/>
              <a:cxnLst/>
              <a:rect r="r" b="b" t="t" l="l"/>
              <a:pathLst>
                <a:path h="4092685" w="3060779">
                  <a:moveTo>
                    <a:pt x="14886" y="0"/>
                  </a:moveTo>
                  <a:lnTo>
                    <a:pt x="3045893" y="0"/>
                  </a:lnTo>
                  <a:cubicBezTo>
                    <a:pt x="3054114" y="0"/>
                    <a:pt x="3060779" y="6665"/>
                    <a:pt x="3060779" y="14886"/>
                  </a:cubicBezTo>
                  <a:lnTo>
                    <a:pt x="3060779" y="4077798"/>
                  </a:lnTo>
                  <a:cubicBezTo>
                    <a:pt x="3060779" y="4086020"/>
                    <a:pt x="3054114" y="4092685"/>
                    <a:pt x="3045893" y="4092685"/>
                  </a:cubicBezTo>
                  <a:lnTo>
                    <a:pt x="14886" y="4092685"/>
                  </a:lnTo>
                  <a:cubicBezTo>
                    <a:pt x="6665" y="4092685"/>
                    <a:pt x="0" y="4086020"/>
                    <a:pt x="0" y="4077798"/>
                  </a:cubicBezTo>
                  <a:lnTo>
                    <a:pt x="0" y="14886"/>
                  </a:lnTo>
                  <a:cubicBezTo>
                    <a:pt x="0" y="6665"/>
                    <a:pt x="6665" y="0"/>
                    <a:pt x="14886" y="0"/>
                  </a:cubicBezTo>
                  <a:close/>
                </a:path>
              </a:pathLst>
            </a:custGeom>
            <a:blipFill>
              <a:blip r:embed="rId4"/>
              <a:stretch>
                <a:fillRect l="-1400" t="0" r="-140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64150" y="2150947"/>
            <a:ext cx="761267" cy="210976"/>
            <a:chOff x="0" y="0"/>
            <a:chExt cx="1015023" cy="281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81301" cy="281301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DE0F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67613" y="0"/>
              <a:ext cx="281301" cy="281301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F6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33722" y="0"/>
              <a:ext cx="281301" cy="281301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AC66B"/>
              </a:soli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3058" y="676358"/>
            <a:ext cx="16663980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Додаткові модулі інтерфейсу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572448"/>
            <a:ext cx="16230600" cy="8228027"/>
            <a:chOff x="0" y="0"/>
            <a:chExt cx="8254069" cy="41843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4069" cy="4184362"/>
            </a:xfrm>
            <a:custGeom>
              <a:avLst/>
              <a:gdLst/>
              <a:ahLst/>
              <a:cxnLst/>
              <a:rect r="r" b="b" t="t" l="l"/>
              <a:pathLst>
                <a:path h="4184362" w="8254069">
                  <a:moveTo>
                    <a:pt x="8109" y="0"/>
                  </a:moveTo>
                  <a:lnTo>
                    <a:pt x="8245960" y="0"/>
                  </a:lnTo>
                  <a:cubicBezTo>
                    <a:pt x="8248110" y="0"/>
                    <a:pt x="8250173" y="854"/>
                    <a:pt x="8251694" y="2375"/>
                  </a:cubicBezTo>
                  <a:cubicBezTo>
                    <a:pt x="8253215" y="3896"/>
                    <a:pt x="8254069" y="5958"/>
                    <a:pt x="8254069" y="8109"/>
                  </a:cubicBezTo>
                  <a:lnTo>
                    <a:pt x="8254069" y="4176253"/>
                  </a:lnTo>
                  <a:cubicBezTo>
                    <a:pt x="8254069" y="4178403"/>
                    <a:pt x="8253215" y="4180466"/>
                    <a:pt x="8251694" y="4181987"/>
                  </a:cubicBezTo>
                  <a:cubicBezTo>
                    <a:pt x="8250173" y="4183507"/>
                    <a:pt x="8248110" y="4184362"/>
                    <a:pt x="8245960" y="4184362"/>
                  </a:cubicBezTo>
                  <a:lnTo>
                    <a:pt x="8109" y="4184362"/>
                  </a:lnTo>
                  <a:cubicBezTo>
                    <a:pt x="5958" y="4184362"/>
                    <a:pt x="3896" y="4183507"/>
                    <a:pt x="2375" y="4181987"/>
                  </a:cubicBezTo>
                  <a:cubicBezTo>
                    <a:pt x="854" y="4180466"/>
                    <a:pt x="0" y="4178403"/>
                    <a:pt x="0" y="4176253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54069" cy="4222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531665" y="2471959"/>
          <a:ext cx="15224670" cy="7038975"/>
        </p:xfrm>
        <a:graphic>
          <a:graphicData uri="http://schemas.openxmlformats.org/drawingml/2006/table">
            <a:tbl>
              <a:tblPr/>
              <a:tblGrid>
                <a:gridCol w="3468790"/>
                <a:gridCol w="3736266"/>
                <a:gridCol w="3941384"/>
                <a:gridCol w="4078229"/>
              </a:tblGrid>
              <a:tr h="11396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Ідентифікатор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Опис об'єкта тестування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Очікуваний ефект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Статус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Тест-кейс №1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Модуль автентифікації та сесій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Хешування паролів, валідація полів та зв'язок з БД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Passed (P)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Тест-кейс №2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Завантаження та OpenFileDialog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Блокування невалідних форматів (.pdf), рендер у PictureBox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Passed (P)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Тест-кейс №3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Модуль аналізу та колірних індикаторів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Класифікація вологості, червоне/жовте/зелене підсвічування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Passed (P)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Тест-кейс №4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Транзакції та взаємодія з SQL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Генерація HTML-звітів, перехоплення SqlException при збої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Passed (P)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12793" y="310036"/>
            <a:ext cx="14862413" cy="102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Тестування системи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1665" y="1909868"/>
            <a:ext cx="15488092" cy="39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Таблиця — тест-кейсів (виконано самостійно)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708460"/>
            <a:ext cx="1486241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Висновки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096655" y="2957028"/>
            <a:ext cx="21825209" cy="4372944"/>
            <a:chOff x="0" y="0"/>
            <a:chExt cx="11099206" cy="22238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99206" cy="2223860"/>
            </a:xfrm>
            <a:custGeom>
              <a:avLst/>
              <a:gdLst/>
              <a:ahLst/>
              <a:cxnLst/>
              <a:rect r="r" b="b" t="t" l="l"/>
              <a:pathLst>
                <a:path h="2223860" w="11099206">
                  <a:moveTo>
                    <a:pt x="6030" y="0"/>
                  </a:moveTo>
                  <a:lnTo>
                    <a:pt x="11093176" y="0"/>
                  </a:lnTo>
                  <a:cubicBezTo>
                    <a:pt x="11096506" y="0"/>
                    <a:pt x="11099206" y="2700"/>
                    <a:pt x="11099206" y="6030"/>
                  </a:cubicBezTo>
                  <a:lnTo>
                    <a:pt x="11099206" y="2217830"/>
                  </a:lnTo>
                  <a:cubicBezTo>
                    <a:pt x="11099206" y="2221160"/>
                    <a:pt x="11096506" y="2223860"/>
                    <a:pt x="11093176" y="2223860"/>
                  </a:cubicBezTo>
                  <a:lnTo>
                    <a:pt x="6030" y="2223860"/>
                  </a:lnTo>
                  <a:cubicBezTo>
                    <a:pt x="2700" y="2223860"/>
                    <a:pt x="0" y="2221160"/>
                    <a:pt x="0" y="2217830"/>
                  </a:cubicBezTo>
                  <a:lnTo>
                    <a:pt x="0" y="6030"/>
                  </a:lnTo>
                  <a:cubicBezTo>
                    <a:pt x="0" y="2700"/>
                    <a:pt x="2700" y="0"/>
                    <a:pt x="6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099206" cy="226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551428"/>
            <a:ext cx="16230600" cy="316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5"/>
              </a:lnSpc>
            </a:pPr>
            <a:r>
              <a:rPr lang="en-US" sz="33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Результати виконання роботи:</a:t>
            </a:r>
          </a:p>
          <a:p>
            <a:pPr algn="just">
              <a:lnSpc>
                <a:spcPts val="2355"/>
              </a:lnSpc>
            </a:pPr>
          </a:p>
          <a:p>
            <a:pPr algn="just">
              <a:lnSpc>
                <a:spcPts val="3719"/>
              </a:lnSpc>
            </a:pPr>
            <a:r>
              <a:rPr lang="en-US" sz="2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У</a:t>
            </a:r>
            <a:r>
              <a:rPr lang="en-US" sz="2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результаті розробки створено функц</a:t>
            </a:r>
            <a:r>
              <a:rPr lang="en-US" sz="2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і</a:t>
            </a:r>
            <a:r>
              <a:rPr lang="en-US" sz="29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ональну систему SoilVision на базі платформи .NET та інтерфейсу Windows Forms. Забезпечено успішну інтеграцію засобів комп'ютерного зору з інтелектуальним модулем машинного навчання ML.NET для автоматичного розпізнавання характеристик ґрунту.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349822" y="9221393"/>
            <a:ext cx="771088" cy="579082"/>
            <a:chOff x="0" y="0"/>
            <a:chExt cx="330183" cy="2479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183" cy="247965"/>
            </a:xfrm>
            <a:custGeom>
              <a:avLst/>
              <a:gdLst/>
              <a:ahLst/>
              <a:cxnLst/>
              <a:rect r="r" b="b" t="t" l="l"/>
              <a:pathLst>
                <a:path h="247965" w="330183">
                  <a:moveTo>
                    <a:pt x="123983" y="0"/>
                  </a:moveTo>
                  <a:lnTo>
                    <a:pt x="206200" y="0"/>
                  </a:lnTo>
                  <a:cubicBezTo>
                    <a:pt x="239083" y="0"/>
                    <a:pt x="270618" y="13062"/>
                    <a:pt x="293869" y="36314"/>
                  </a:cubicBezTo>
                  <a:cubicBezTo>
                    <a:pt x="317120" y="59565"/>
                    <a:pt x="330183" y="91100"/>
                    <a:pt x="330183" y="123983"/>
                  </a:cubicBezTo>
                  <a:lnTo>
                    <a:pt x="330183" y="123983"/>
                  </a:lnTo>
                  <a:cubicBezTo>
                    <a:pt x="330183" y="156865"/>
                    <a:pt x="317120" y="188400"/>
                    <a:pt x="293869" y="211652"/>
                  </a:cubicBezTo>
                  <a:cubicBezTo>
                    <a:pt x="270618" y="234903"/>
                    <a:pt x="239083" y="247965"/>
                    <a:pt x="206200" y="247965"/>
                  </a:cubicBezTo>
                  <a:lnTo>
                    <a:pt x="123983" y="247965"/>
                  </a:lnTo>
                  <a:cubicBezTo>
                    <a:pt x="91100" y="247965"/>
                    <a:pt x="59565" y="234903"/>
                    <a:pt x="36314" y="211652"/>
                  </a:cubicBezTo>
                  <a:cubicBezTo>
                    <a:pt x="13062" y="188400"/>
                    <a:pt x="0" y="156865"/>
                    <a:pt x="0" y="123983"/>
                  </a:cubicBezTo>
                  <a:lnTo>
                    <a:pt x="0" y="123983"/>
                  </a:lnTo>
                  <a:cubicBezTo>
                    <a:pt x="0" y="91100"/>
                    <a:pt x="13062" y="59565"/>
                    <a:pt x="36314" y="36314"/>
                  </a:cubicBezTo>
                  <a:cubicBezTo>
                    <a:pt x="59565" y="13062"/>
                    <a:pt x="91100" y="0"/>
                    <a:pt x="1239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0183" cy="2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497039" y="9329070"/>
            <a:ext cx="476654" cy="4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900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DAGvev-TUtA</dc:identifier>
  <dcterms:modified xsi:type="dcterms:W3CDTF">2011-08-01T06:04:30Z</dcterms:modified>
  <cp:revision>1</cp:revision>
  <dc:title>apz-pzpi-22-7-kuzub-maksym-pract2</dc:title>
</cp:coreProperties>
</file>